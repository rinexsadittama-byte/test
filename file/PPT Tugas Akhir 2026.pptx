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6" r:id="rId1"/>
  </p:sldMasterIdLst>
  <p:notesMasterIdLst>
    <p:notesMasterId r:id="rId10"/>
  </p:notesMasterIdLst>
  <p:sldIdLst>
    <p:sldId id="287" r:id="rId2"/>
    <p:sldId id="268" r:id="rId3"/>
    <p:sldId id="265" r:id="rId4"/>
    <p:sldId id="284" r:id="rId5"/>
    <p:sldId id="286" r:id="rId6"/>
    <p:sldId id="294" r:id="rId7"/>
    <p:sldId id="345" r:id="rId8"/>
    <p:sldId id="257" r:id="rId9"/>
  </p:sldIdLst>
  <p:sldSz cx="9144000" cy="5143500" type="screen16x9"/>
  <p:notesSz cx="6858000" cy="9144000"/>
  <p:embeddedFontLst>
    <p:embeddedFont>
      <p:font typeface="Didact Gothic" panose="020B0604020202020204" charset="0"/>
      <p:regular r:id="rId11"/>
    </p:embeddedFont>
    <p:embeddedFont>
      <p:font typeface="Julius Sans One" panose="020B0604020202020204" charset="0"/>
      <p:regular r:id="rId12"/>
    </p:embeddedFont>
    <p:embeddedFont>
      <p:font typeface="Arial Narrow" panose="020B0606020202030204" pitchFamily="34" charset="0"/>
      <p:regular r:id="rId13"/>
      <p:bold r:id="rId14"/>
      <p:italic r:id="rId15"/>
      <p:boldItalic r:id="rId16"/>
    </p:embeddedFont>
    <p:embeddedFont>
      <p:font typeface="Questrial" panose="020B0604020202020204" charset="0"/>
      <p:regular r:id="rId17"/>
    </p:embeddedFont>
    <p:embeddedFont>
      <p:font typeface="Bahnschrift Condensed" panose="020B0502040204020203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325D825-F89B-4E9D-AD69-67D7E0489086}">
  <a:tblStyle styleId="{7325D825-F89B-4E9D-AD69-67D7E04890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7930" autoAdjust="0"/>
    <p:restoredTop sz="94695" autoAdjust="0"/>
  </p:normalViewPr>
  <p:slideViewPr>
    <p:cSldViewPr snapToGrid="0">
      <p:cViewPr varScale="1">
        <p:scale>
          <a:sx n="97" d="100"/>
          <a:sy n="97" d="100"/>
        </p:scale>
        <p:origin x="-108" y="-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4" y="36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27761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47f2e9a217_0_2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47f2e9a217_0_2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47f2e9a217_0_2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47f2e9a217_0_2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47f2e9a217_0_2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47f2e9a217_0_2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47f2e9a217_0_2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47f2e9a217_0_2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47f2e9a217_0_26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47f2e9a217_0_26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47f2e9a217_0_2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47f2e9a217_0_2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47f2e9a217_0_2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47f2e9a217_0_2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47f2e9a217_0_2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47f2e9a217_0_2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3537625" y="711975"/>
            <a:ext cx="7035600" cy="3277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1255025"/>
            <a:ext cx="4322700" cy="3891000"/>
          </a:xfrm>
          <a:prstGeom prst="rtTriangl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1034200" y="0"/>
            <a:ext cx="10867800" cy="5143500"/>
          </a:xfrm>
          <a:prstGeom prst="triangle">
            <a:avLst>
              <a:gd name="adj" fmla="val 49850"/>
            </a:avLst>
          </a:prstGeom>
          <a:solidFill>
            <a:srgbClr val="3838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603058" y="1948236"/>
            <a:ext cx="4543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16899" y="4037775"/>
            <a:ext cx="5829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accent5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5808550" y="1533900"/>
            <a:ext cx="4800600" cy="4800600"/>
          </a:xfrm>
          <a:prstGeom prst="rtTriangle">
            <a:avLst/>
          </a:prstGeom>
          <a:solidFill>
            <a:srgbClr val="383838"/>
          </a:solidFill>
          <a:ln w="9525" cap="flat" cmpd="sng">
            <a:solidFill>
              <a:srgbClr val="DBDB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626250" y="597425"/>
            <a:ext cx="789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626250" y="1304875"/>
            <a:ext cx="7891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accent5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833927" y="2641577"/>
            <a:ext cx="3100800" cy="9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5209273" y="2641577"/>
            <a:ext cx="3100800" cy="9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554977" y="1985760"/>
            <a:ext cx="1658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 idx="3"/>
          </p:nvPr>
        </p:nvSpPr>
        <p:spPr>
          <a:xfrm>
            <a:off x="5930323" y="1985760"/>
            <a:ext cx="1658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/>
          <p:nvPr/>
        </p:nvSpPr>
        <p:spPr>
          <a:xfrm rot="10800000">
            <a:off x="3588450" y="-22625"/>
            <a:ext cx="1967100" cy="885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5">
    <p:bg>
      <p:bgPr>
        <a:solidFill>
          <a:schemeClr val="accent5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862450" y="3418086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ubTitle" idx="1"/>
          </p:nvPr>
        </p:nvSpPr>
        <p:spPr>
          <a:xfrm>
            <a:off x="424450" y="3659411"/>
            <a:ext cx="263970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title" idx="2"/>
          </p:nvPr>
        </p:nvSpPr>
        <p:spPr>
          <a:xfrm>
            <a:off x="6525755" y="3418086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3"/>
          </p:nvPr>
        </p:nvSpPr>
        <p:spPr>
          <a:xfrm>
            <a:off x="6087751" y="3659411"/>
            <a:ext cx="263970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title" idx="4"/>
          </p:nvPr>
        </p:nvSpPr>
        <p:spPr>
          <a:xfrm>
            <a:off x="3690150" y="3418086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5"/>
          </p:nvPr>
        </p:nvSpPr>
        <p:spPr>
          <a:xfrm>
            <a:off x="3252148" y="3659411"/>
            <a:ext cx="263970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title" idx="6"/>
          </p:nvPr>
        </p:nvSpPr>
        <p:spPr>
          <a:xfrm>
            <a:off x="1687950" y="530725"/>
            <a:ext cx="5768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3">
    <p:bg>
      <p:bgPr>
        <a:solidFill>
          <a:schemeClr val="accent5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>
            <a:spLocks noGrp="1"/>
          </p:cNvSpPr>
          <p:nvPr>
            <p:ph type="title"/>
          </p:nvPr>
        </p:nvSpPr>
        <p:spPr>
          <a:xfrm>
            <a:off x="716550" y="530725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8"/>
          <p:cNvSpPr/>
          <p:nvPr/>
        </p:nvSpPr>
        <p:spPr>
          <a:xfrm>
            <a:off x="-1681400" y="248210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90" name="Google Shape;190;p28"/>
          <p:cNvSpPr/>
          <p:nvPr/>
        </p:nvSpPr>
        <p:spPr>
          <a:xfrm rot="10800000">
            <a:off x="6494725" y="-118225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91" name="Google Shape;191;p28"/>
          <p:cNvSpPr/>
          <p:nvPr/>
        </p:nvSpPr>
        <p:spPr>
          <a:xfrm rot="10800000">
            <a:off x="5454700" y="-1789325"/>
            <a:ext cx="5364900" cy="2516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7">
    <p:bg>
      <p:bgPr>
        <a:solidFill>
          <a:schemeClr val="accent5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title"/>
          </p:nvPr>
        </p:nvSpPr>
        <p:spPr>
          <a:xfrm>
            <a:off x="1176825" y="2158150"/>
            <a:ext cx="14991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29"/>
          <p:cNvSpPr txBox="1">
            <a:spLocks noGrp="1"/>
          </p:cNvSpPr>
          <p:nvPr>
            <p:ph type="subTitle" idx="1"/>
          </p:nvPr>
        </p:nvSpPr>
        <p:spPr>
          <a:xfrm>
            <a:off x="713225" y="2459250"/>
            <a:ext cx="2426100" cy="7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95" name="Google Shape;195;p29"/>
          <p:cNvSpPr txBox="1">
            <a:spLocks noGrp="1"/>
          </p:cNvSpPr>
          <p:nvPr>
            <p:ph type="title" idx="2"/>
          </p:nvPr>
        </p:nvSpPr>
        <p:spPr>
          <a:xfrm>
            <a:off x="6468199" y="2158150"/>
            <a:ext cx="14991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subTitle" idx="3"/>
          </p:nvPr>
        </p:nvSpPr>
        <p:spPr>
          <a:xfrm>
            <a:off x="6004683" y="2459250"/>
            <a:ext cx="2426100" cy="7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title" idx="4"/>
          </p:nvPr>
        </p:nvSpPr>
        <p:spPr>
          <a:xfrm>
            <a:off x="3822450" y="2158150"/>
            <a:ext cx="14991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subTitle" idx="5"/>
          </p:nvPr>
        </p:nvSpPr>
        <p:spPr>
          <a:xfrm>
            <a:off x="3358950" y="2459250"/>
            <a:ext cx="2426100" cy="7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99" name="Google Shape;199;p29"/>
          <p:cNvSpPr/>
          <p:nvPr/>
        </p:nvSpPr>
        <p:spPr>
          <a:xfrm>
            <a:off x="3198450" y="3764666"/>
            <a:ext cx="2727900" cy="14163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9"/>
          <p:cNvSpPr txBox="1">
            <a:spLocks noGrp="1"/>
          </p:cNvSpPr>
          <p:nvPr>
            <p:ph type="title" idx="6"/>
          </p:nvPr>
        </p:nvSpPr>
        <p:spPr>
          <a:xfrm>
            <a:off x="1974300" y="530725"/>
            <a:ext cx="51954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32_1">
    <p:bg>
      <p:bgPr>
        <a:solidFill>
          <a:schemeClr val="accent5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/>
          <p:nvPr/>
        </p:nvSpPr>
        <p:spPr>
          <a:xfrm rot="5400000" flipH="1">
            <a:off x="-3170100" y="96925"/>
            <a:ext cx="10676100" cy="48081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0"/>
          <p:cNvSpPr txBox="1">
            <a:spLocks noGrp="1"/>
          </p:cNvSpPr>
          <p:nvPr>
            <p:ph type="title"/>
          </p:nvPr>
        </p:nvSpPr>
        <p:spPr>
          <a:xfrm>
            <a:off x="5621850" y="1032225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subTitle" idx="1"/>
          </p:nvPr>
        </p:nvSpPr>
        <p:spPr>
          <a:xfrm>
            <a:off x="5295600" y="1276125"/>
            <a:ext cx="24162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title" idx="2"/>
          </p:nvPr>
        </p:nvSpPr>
        <p:spPr>
          <a:xfrm>
            <a:off x="713225" y="2279700"/>
            <a:ext cx="3328800" cy="5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 idx="3"/>
          </p:nvPr>
        </p:nvSpPr>
        <p:spPr>
          <a:xfrm>
            <a:off x="5621850" y="2460810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subTitle" idx="4"/>
          </p:nvPr>
        </p:nvSpPr>
        <p:spPr>
          <a:xfrm>
            <a:off x="5295600" y="2709472"/>
            <a:ext cx="24162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08" name="Google Shape;208;p30"/>
          <p:cNvSpPr txBox="1">
            <a:spLocks noGrp="1"/>
          </p:cNvSpPr>
          <p:nvPr>
            <p:ph type="title" idx="5"/>
          </p:nvPr>
        </p:nvSpPr>
        <p:spPr>
          <a:xfrm>
            <a:off x="5621850" y="3877419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type="subTitle" idx="6"/>
          </p:nvPr>
        </p:nvSpPr>
        <p:spPr>
          <a:xfrm>
            <a:off x="5295600" y="4126082"/>
            <a:ext cx="24162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10" name="Google Shape;210;p30"/>
          <p:cNvSpPr/>
          <p:nvPr/>
        </p:nvSpPr>
        <p:spPr>
          <a:xfrm rot="10800000">
            <a:off x="6984125" y="-614375"/>
            <a:ext cx="3405900" cy="33024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11" name="Google Shape;211;p30"/>
          <p:cNvSpPr/>
          <p:nvPr/>
        </p:nvSpPr>
        <p:spPr>
          <a:xfrm rot="10800000">
            <a:off x="7044125" y="-709625"/>
            <a:ext cx="3405900" cy="3302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12" name="Google Shape;212;p30"/>
          <p:cNvSpPr/>
          <p:nvPr/>
        </p:nvSpPr>
        <p:spPr>
          <a:xfrm flipH="1">
            <a:off x="7963400" y="3988625"/>
            <a:ext cx="1355400" cy="13143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7338200" y="4256000"/>
            <a:ext cx="2913300" cy="13665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CUSTOM_21_1_3">
    <p:bg>
      <p:bgPr>
        <a:solidFill>
          <a:schemeClr val="dk1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"/>
          <p:cNvSpPr txBox="1">
            <a:spLocks noGrp="1"/>
          </p:cNvSpPr>
          <p:nvPr>
            <p:ph type="body" idx="1"/>
          </p:nvPr>
        </p:nvSpPr>
        <p:spPr>
          <a:xfrm>
            <a:off x="713225" y="2347850"/>
            <a:ext cx="4941600" cy="22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350" name="Google Shape;350;p46"/>
          <p:cNvSpPr txBox="1">
            <a:spLocks noGrp="1"/>
          </p:cNvSpPr>
          <p:nvPr>
            <p:ph type="title"/>
          </p:nvPr>
        </p:nvSpPr>
        <p:spPr>
          <a:xfrm>
            <a:off x="713225" y="1061025"/>
            <a:ext cx="5218800" cy="98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1" name="Google Shape;351;p46"/>
          <p:cNvSpPr/>
          <p:nvPr/>
        </p:nvSpPr>
        <p:spPr>
          <a:xfrm rot="5400000">
            <a:off x="-761012" y="-790512"/>
            <a:ext cx="3405900" cy="33024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52" name="Google Shape;352;p46"/>
          <p:cNvSpPr/>
          <p:nvPr/>
        </p:nvSpPr>
        <p:spPr>
          <a:xfrm rot="5400000">
            <a:off x="-856262" y="-1009587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53" name="Google Shape;353;p46"/>
          <p:cNvSpPr/>
          <p:nvPr/>
        </p:nvSpPr>
        <p:spPr>
          <a:xfrm rot="-5400000">
            <a:off x="2896850" y="288000"/>
            <a:ext cx="10141200" cy="45675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32_3">
    <p:bg>
      <p:bgPr>
        <a:solidFill>
          <a:schemeClr val="accent5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4"/>
          <p:cNvSpPr/>
          <p:nvPr/>
        </p:nvSpPr>
        <p:spPr>
          <a:xfrm rot="10800000">
            <a:off x="5891850" y="-387100"/>
            <a:ext cx="5264100" cy="2697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54"/>
          <p:cNvSpPr/>
          <p:nvPr/>
        </p:nvSpPr>
        <p:spPr>
          <a:xfrm>
            <a:off x="-5191825" y="2310500"/>
            <a:ext cx="7403100" cy="37941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54"/>
          <p:cNvSpPr txBox="1">
            <a:spLocks noGrp="1"/>
          </p:cNvSpPr>
          <p:nvPr>
            <p:ph type="title"/>
          </p:nvPr>
        </p:nvSpPr>
        <p:spPr>
          <a:xfrm>
            <a:off x="862450" y="3324450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0" name="Google Shape;410;p54"/>
          <p:cNvSpPr txBox="1">
            <a:spLocks noGrp="1"/>
          </p:cNvSpPr>
          <p:nvPr>
            <p:ph type="subTitle" idx="1"/>
          </p:nvPr>
        </p:nvSpPr>
        <p:spPr>
          <a:xfrm>
            <a:off x="424450" y="3583211"/>
            <a:ext cx="2639700" cy="8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411" name="Google Shape;411;p54"/>
          <p:cNvSpPr txBox="1">
            <a:spLocks noGrp="1"/>
          </p:cNvSpPr>
          <p:nvPr>
            <p:ph type="title" idx="2"/>
          </p:nvPr>
        </p:nvSpPr>
        <p:spPr>
          <a:xfrm>
            <a:off x="6525755" y="3324450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2" name="Google Shape;412;p54"/>
          <p:cNvSpPr txBox="1">
            <a:spLocks noGrp="1"/>
          </p:cNvSpPr>
          <p:nvPr>
            <p:ph type="subTitle" idx="3"/>
          </p:nvPr>
        </p:nvSpPr>
        <p:spPr>
          <a:xfrm>
            <a:off x="6087751" y="3583211"/>
            <a:ext cx="2639700" cy="8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413" name="Google Shape;413;p54"/>
          <p:cNvSpPr txBox="1">
            <a:spLocks noGrp="1"/>
          </p:cNvSpPr>
          <p:nvPr>
            <p:ph type="title" idx="4"/>
          </p:nvPr>
        </p:nvSpPr>
        <p:spPr>
          <a:xfrm>
            <a:off x="3690150" y="3324450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4" name="Google Shape;414;p54"/>
          <p:cNvSpPr txBox="1">
            <a:spLocks noGrp="1"/>
          </p:cNvSpPr>
          <p:nvPr>
            <p:ph type="subTitle" idx="5"/>
          </p:nvPr>
        </p:nvSpPr>
        <p:spPr>
          <a:xfrm>
            <a:off x="3252148" y="3583211"/>
            <a:ext cx="2639700" cy="8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415" name="Google Shape;415;p54"/>
          <p:cNvSpPr txBox="1">
            <a:spLocks noGrp="1"/>
          </p:cNvSpPr>
          <p:nvPr>
            <p:ph type="title" idx="6"/>
          </p:nvPr>
        </p:nvSpPr>
        <p:spPr>
          <a:xfrm>
            <a:off x="1687950" y="530725"/>
            <a:ext cx="5768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6250" y="597425"/>
            <a:ext cx="789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6250" y="1304875"/>
            <a:ext cx="789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5" r:id="rId5"/>
    <p:sldLayoutId id="2147483656" r:id="rId6"/>
    <p:sldLayoutId id="2147483658" r:id="rId7"/>
    <p:sldLayoutId id="2147483666" r:id="rId8"/>
    <p:sldLayoutId id="2147483674" r:id="rId9"/>
    <p:sldLayoutId id="2147483675" r:id="rId10"/>
    <p:sldLayoutId id="2147483676" r:id="rId11"/>
    <p:sldLayoutId id="2147483692" r:id="rId12"/>
    <p:sldLayoutId id="214748370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94"/>
          <p:cNvSpPr txBox="1">
            <a:spLocks noGrp="1"/>
          </p:cNvSpPr>
          <p:nvPr>
            <p:ph type="title"/>
          </p:nvPr>
        </p:nvSpPr>
        <p:spPr>
          <a:xfrm>
            <a:off x="5441068" y="2234474"/>
            <a:ext cx="3339737" cy="4526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Rinexs adittama weleleinam</a:t>
            </a:r>
            <a:endParaRPr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8" name="Google Shape;768;p94"/>
          <p:cNvSpPr txBox="1">
            <a:spLocks noGrp="1"/>
          </p:cNvSpPr>
          <p:nvPr>
            <p:ph type="subTitle" idx="1"/>
          </p:nvPr>
        </p:nvSpPr>
        <p:spPr>
          <a:xfrm>
            <a:off x="5925001" y="2572355"/>
            <a:ext cx="2416200" cy="4311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220102066</a:t>
            </a:r>
            <a:endParaRPr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9" name="Google Shape;769;p94"/>
          <p:cNvSpPr txBox="1">
            <a:spLocks noGrp="1"/>
          </p:cNvSpPr>
          <p:nvPr>
            <p:ph type="title" idx="2"/>
          </p:nvPr>
        </p:nvSpPr>
        <p:spPr>
          <a:xfrm>
            <a:off x="49897" y="1916482"/>
            <a:ext cx="4902199" cy="16966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dirty="0" smtClean="0">
                <a:latin typeface="Bahnschrift Condensed" panose="020B0502040204020203" pitchFamily="34" charset="0"/>
              </a:rPr>
              <a:t>PERANCANGAN DAN IMPLEMENTASI </a:t>
            </a:r>
            <a:br>
              <a:rPr sz="2000" dirty="0" smtClean="0">
                <a:latin typeface="Bahnschrift Condensed" panose="020B0502040204020203" pitchFamily="34" charset="0"/>
              </a:rPr>
            </a:br>
            <a:r>
              <a:rPr sz="2000" dirty="0" smtClean="0">
                <a:latin typeface="Bahnschrift Condensed" panose="020B0502040204020203" pitchFamily="34" charset="0"/>
              </a:rPr>
              <a:t>JARINGAN RT/RW NET BERBASIS MIKROTIK</a:t>
            </a:r>
            <a:r>
              <a:rPr sz="2000" dirty="0">
                <a:latin typeface="Bahnschrift Condensed" panose="020B0502040204020203" pitchFamily="34" charset="0"/>
              </a:rPr>
              <a:t> </a:t>
            </a:r>
            <a:r>
              <a:rPr sz="2000" dirty="0" smtClean="0">
                <a:latin typeface="Bahnschrift Condensed" panose="020B0502040204020203" pitchFamily="34" charset="0"/>
              </a:rPr>
              <a:t>MENGGUNAKAN TOPOLOGI HYBRID</a:t>
            </a:r>
            <a:br>
              <a:rPr sz="2000" dirty="0" smtClean="0">
                <a:latin typeface="Bahnschrift Condensed" panose="020B0502040204020203" pitchFamily="34" charset="0"/>
              </a:rPr>
            </a:br>
            <a:r>
              <a:rPr lang="x-none" sz="2000" smtClean="0">
                <a:latin typeface="Bahnschrift Condensed" panose="020B0502040204020203" pitchFamily="34" charset="0"/>
              </a:rPr>
              <a:t>DI DESA DREAMLAND HILLS</a:t>
            </a:r>
            <a:endParaRPr sz="2000" dirty="0">
              <a:latin typeface="Bahnschrift Condensed" panose="020B0502040204020203" pitchFamily="34" charset="0"/>
            </a:endParaRPr>
          </a:p>
        </p:txBody>
      </p:sp>
      <p:sp>
        <p:nvSpPr>
          <p:cNvPr id="770" name="Google Shape;770;p94"/>
          <p:cNvSpPr txBox="1">
            <a:spLocks noGrp="1"/>
          </p:cNvSpPr>
          <p:nvPr>
            <p:ph type="title" idx="3"/>
          </p:nvPr>
        </p:nvSpPr>
        <p:spPr>
          <a:xfrm>
            <a:off x="4853500" y="1425760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smtClean="0"/>
              <a:t>       </a:t>
            </a:r>
            <a:endParaRPr dirty="0"/>
          </a:p>
        </p:txBody>
      </p:sp>
      <p:sp>
        <p:nvSpPr>
          <p:cNvPr id="772" name="Google Shape;772;p94"/>
          <p:cNvSpPr txBox="1">
            <a:spLocks noGrp="1"/>
          </p:cNvSpPr>
          <p:nvPr>
            <p:ph type="title" idx="5"/>
          </p:nvPr>
        </p:nvSpPr>
        <p:spPr>
          <a:xfrm>
            <a:off x="5019551" y="3010765"/>
            <a:ext cx="4199205" cy="3848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smtClean="0"/>
              <a:t> </a:t>
            </a:r>
            <a:r>
              <a:rPr lang="id-ID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</a:t>
            </a:r>
            <a:r>
              <a:rPr lang="id-ID" dirty="0" smtClean="0"/>
              <a:t> </a:t>
            </a:r>
            <a:r>
              <a:rPr lang="id-ID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INFORMASI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8" y="0"/>
            <a:ext cx="923976" cy="9374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Google Shape;1270;p110"/>
          <p:cNvSpPr txBox="1"/>
          <p:nvPr/>
        </p:nvSpPr>
        <p:spPr>
          <a:xfrm flipH="1">
            <a:off x="6354005" y="1967567"/>
            <a:ext cx="1297800" cy="26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100" dirty="0" smtClean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r>
              <a:rPr lang="id-ID" sz="1100" b="1" dirty="0" smtClean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Disusun Oleh:</a:t>
            </a:r>
            <a:endParaRPr sz="1100" b="1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5"/>
          <p:cNvSpPr txBox="1">
            <a:spLocks noGrp="1"/>
          </p:cNvSpPr>
          <p:nvPr>
            <p:ph type="title" idx="4"/>
          </p:nvPr>
        </p:nvSpPr>
        <p:spPr>
          <a:xfrm>
            <a:off x="3748020" y="1690886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akibat</a:t>
            </a:r>
            <a:endParaRPr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0" name="Google Shape;570;p75"/>
          <p:cNvSpPr txBox="1">
            <a:spLocks noGrp="1"/>
          </p:cNvSpPr>
          <p:nvPr>
            <p:ph type="title"/>
          </p:nvPr>
        </p:nvSpPr>
        <p:spPr>
          <a:xfrm>
            <a:off x="862450" y="1322586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Masalah</a:t>
            </a:r>
            <a:endParaRPr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1" name="Google Shape;571;p75"/>
          <p:cNvSpPr txBox="1">
            <a:spLocks noGrp="1"/>
          </p:cNvSpPr>
          <p:nvPr>
            <p:ph type="subTitle" idx="1"/>
          </p:nvPr>
        </p:nvSpPr>
        <p:spPr>
          <a:xfrm>
            <a:off x="424450" y="1665511"/>
            <a:ext cx="263970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smtClean="0"/>
              <a:t> </a:t>
            </a:r>
            <a:r>
              <a:rPr dirty="0" err="1"/>
              <a:t>A</a:t>
            </a:r>
            <a:r>
              <a:rPr dirty="0" err="1" smtClean="0"/>
              <a:t>kses</a:t>
            </a:r>
            <a:r>
              <a:rPr dirty="0" smtClean="0"/>
              <a:t> </a:t>
            </a:r>
            <a:r>
              <a:rPr dirty="0" err="1" smtClean="0"/>
              <a:t>teknologi</a:t>
            </a:r>
            <a:r>
              <a:rPr dirty="0" smtClean="0"/>
              <a:t> </a:t>
            </a:r>
            <a:r>
              <a:rPr dirty="0" err="1" smtClean="0"/>
              <a:t>informasi</a:t>
            </a:r>
            <a:r>
              <a:rPr dirty="0" smtClean="0"/>
              <a:t> di </a:t>
            </a:r>
            <a:r>
              <a:rPr dirty="0" err="1" smtClean="0"/>
              <a:t>Desa</a:t>
            </a:r>
            <a:r>
              <a:rPr dirty="0" smtClean="0"/>
              <a:t> </a:t>
            </a:r>
            <a:r>
              <a:rPr dirty="0" err="1" smtClean="0"/>
              <a:t>Dreamalnd</a:t>
            </a:r>
            <a:r>
              <a:rPr dirty="0" smtClean="0"/>
              <a:t> Hills </a:t>
            </a:r>
            <a:r>
              <a:rPr dirty="0" err="1" smtClean="0"/>
              <a:t>sangat</a:t>
            </a:r>
            <a:r>
              <a:rPr dirty="0" smtClean="0"/>
              <a:t> </a:t>
            </a:r>
            <a:r>
              <a:rPr dirty="0" err="1" smtClean="0"/>
              <a:t>terbatas</a:t>
            </a:r>
            <a:r>
              <a:rPr dirty="0" smtClean="0"/>
              <a:t>, </a:t>
            </a:r>
            <a:r>
              <a:rPr dirty="0" err="1" smtClean="0"/>
              <a:t>masyarakat</a:t>
            </a:r>
            <a:r>
              <a:rPr dirty="0" smtClean="0"/>
              <a:t> </a:t>
            </a:r>
            <a:r>
              <a:rPr dirty="0" err="1" smtClean="0"/>
              <a:t>dan</a:t>
            </a:r>
            <a:r>
              <a:rPr dirty="0" smtClean="0"/>
              <a:t> </a:t>
            </a:r>
            <a:r>
              <a:rPr dirty="0" err="1" smtClean="0"/>
              <a:t>siswa</a:t>
            </a:r>
            <a:r>
              <a:rPr dirty="0" smtClean="0"/>
              <a:t> </a:t>
            </a:r>
            <a:r>
              <a:rPr dirty="0" err="1" smtClean="0"/>
              <a:t>masih</a:t>
            </a:r>
            <a:r>
              <a:rPr dirty="0" smtClean="0"/>
              <a:t> </a:t>
            </a:r>
            <a:r>
              <a:rPr dirty="0" err="1" smtClean="0"/>
              <a:t>bergantung</a:t>
            </a:r>
            <a:r>
              <a:rPr dirty="0" smtClean="0"/>
              <a:t> </a:t>
            </a:r>
            <a:r>
              <a:rPr dirty="0" err="1" smtClean="0"/>
              <a:t>pada</a:t>
            </a:r>
            <a:r>
              <a:rPr dirty="0" smtClean="0"/>
              <a:t> </a:t>
            </a:r>
            <a:r>
              <a:rPr dirty="0" err="1" smtClean="0"/>
              <a:t>sinyal</a:t>
            </a:r>
            <a:r>
              <a:rPr dirty="0" smtClean="0"/>
              <a:t> </a:t>
            </a:r>
            <a:r>
              <a:rPr dirty="0" err="1" smtClean="0"/>
              <a:t>seluler</a:t>
            </a:r>
            <a:r>
              <a:rPr dirty="0" smtClean="0"/>
              <a:t>, </a:t>
            </a:r>
            <a:r>
              <a:rPr dirty="0" err="1" smtClean="0"/>
              <a:t>karena</a:t>
            </a:r>
            <a:r>
              <a:rPr dirty="0" smtClean="0"/>
              <a:t> </a:t>
            </a:r>
            <a:r>
              <a:rPr dirty="0" err="1" smtClean="0"/>
              <a:t>belum</a:t>
            </a:r>
            <a:r>
              <a:rPr dirty="0" smtClean="0"/>
              <a:t> </a:t>
            </a:r>
            <a:r>
              <a:rPr dirty="0" err="1" smtClean="0"/>
              <a:t>adanya</a:t>
            </a:r>
            <a:r>
              <a:rPr dirty="0" smtClean="0"/>
              <a:t> </a:t>
            </a:r>
            <a:r>
              <a:rPr dirty="0" err="1" smtClean="0"/>
              <a:t>infrastruktur</a:t>
            </a:r>
            <a:r>
              <a:rPr dirty="0" smtClean="0"/>
              <a:t> internet </a:t>
            </a:r>
            <a:r>
              <a:rPr dirty="0" err="1" smtClean="0"/>
              <a:t>kabel</a:t>
            </a:r>
            <a:r>
              <a:rPr dirty="0" smtClean="0"/>
              <a:t> yang </a:t>
            </a:r>
            <a:r>
              <a:rPr dirty="0" err="1" smtClean="0"/>
              <a:t>masuk</a:t>
            </a:r>
            <a:r>
              <a:rPr dirty="0" smtClean="0"/>
              <a:t> </a:t>
            </a:r>
            <a:r>
              <a:rPr dirty="0" err="1" smtClean="0"/>
              <a:t>ke</a:t>
            </a:r>
            <a:r>
              <a:rPr dirty="0" smtClean="0"/>
              <a:t> </a:t>
            </a:r>
            <a:r>
              <a:rPr dirty="0" err="1" smtClean="0"/>
              <a:t>desa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572" name="Google Shape;572;p75"/>
          <p:cNvSpPr txBox="1">
            <a:spLocks noGrp="1"/>
          </p:cNvSpPr>
          <p:nvPr>
            <p:ph type="title" idx="2"/>
          </p:nvPr>
        </p:nvSpPr>
        <p:spPr>
          <a:xfrm>
            <a:off x="6525755" y="1354336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solusi</a:t>
            </a:r>
            <a:endParaRPr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3" name="Google Shape;573;p75"/>
          <p:cNvSpPr txBox="1">
            <a:spLocks noGrp="1"/>
          </p:cNvSpPr>
          <p:nvPr>
            <p:ph type="subTitle" idx="3"/>
          </p:nvPr>
        </p:nvSpPr>
        <p:spPr>
          <a:xfrm>
            <a:off x="6226639" y="1678211"/>
            <a:ext cx="263970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 </a:t>
            </a:r>
            <a:r>
              <a:rPr lang="id-ID" dirty="0" smtClean="0"/>
              <a:t>Perancangan dan Implementasi Jaringan RT/RW Net Berbasis Mikrotik Menggunakan Topologi Hybrid di desa Dreamland Hills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smtClean="0"/>
              <a:t>Menjadi solusi infrastruktur mandiri.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4" name="Google Shape;574;p75"/>
          <p:cNvSpPr txBox="1">
            <a:spLocks noGrp="1"/>
          </p:cNvSpPr>
          <p:nvPr>
            <p:ph type="subTitle" idx="5"/>
          </p:nvPr>
        </p:nvSpPr>
        <p:spPr>
          <a:xfrm>
            <a:off x="3338953" y="1970311"/>
            <a:ext cx="2639700" cy="7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 </a:t>
            </a:r>
            <a:r>
              <a:rPr lang="id-ID" dirty="0" smtClean="0"/>
              <a:t>Masyarakat dan siswa harus menggunakan kuota internet dengan biaya yang relarif tinggi dan tidak menjamin kepuasan dalam menggunkan kuota internet.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smtClean="0"/>
              <a:t>Hal ini menciptakan kesenjangan digital antar warga desa dan masyarakat perkotaan.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r>
              <a:rPr lang="id-ID" dirty="0" smtClean="0"/>
              <a:t>Latar belakang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 txBox="1">
            <a:spLocks noGrp="1"/>
          </p:cNvSpPr>
          <p:nvPr>
            <p:ph type="body" idx="1"/>
          </p:nvPr>
        </p:nvSpPr>
        <p:spPr>
          <a:xfrm>
            <a:off x="713225" y="2347850"/>
            <a:ext cx="4941600" cy="13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d-ID" sz="1600" dirty="0" smtClean="0"/>
              <a:t>1.  Bagaimana cara mengatasi kesenjangan digital di desa Dreamland Hills?</a:t>
            </a:r>
          </a:p>
          <a:p>
            <a:pPr marL="342900" indent="-342900">
              <a:buFont typeface="+mj-lt"/>
              <a:buAutoNum type="arabicPeriod"/>
            </a:pPr>
            <a:endParaRPr lang="id-ID" sz="1600" dirty="0"/>
          </a:p>
          <a:p>
            <a:pPr marL="342900" indent="-342900">
              <a:buFont typeface="+mj-lt"/>
              <a:buAutoNum type="arabicPeriod"/>
            </a:pPr>
            <a:r>
              <a:rPr lang="id-ID" sz="1600" dirty="0" smtClean="0"/>
              <a:t>2.  Apa solusi alternatif untuk mengurangi pengeluaran biaya bulanan untuk pembelian paket internet?</a:t>
            </a:r>
            <a:endParaRPr sz="1600" dirty="0"/>
          </a:p>
        </p:txBody>
      </p:sp>
      <p:sp>
        <p:nvSpPr>
          <p:cNvPr id="532" name="Google Shape;532;p72"/>
          <p:cNvSpPr txBox="1">
            <a:spLocks noGrp="1"/>
          </p:cNvSpPr>
          <p:nvPr>
            <p:ph type="title"/>
          </p:nvPr>
        </p:nvSpPr>
        <p:spPr>
          <a:xfrm>
            <a:off x="713225" y="1061025"/>
            <a:ext cx="5218800" cy="98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smtClean="0"/>
              <a:t> rumusan masalah</a:t>
            </a:r>
            <a:endParaRPr dirty="0"/>
          </a:p>
        </p:txBody>
      </p:sp>
      <p:cxnSp>
        <p:nvCxnSpPr>
          <p:cNvPr id="533" name="Google Shape;533;p72"/>
          <p:cNvCxnSpPr/>
          <p:nvPr/>
        </p:nvCxnSpPr>
        <p:spPr>
          <a:xfrm>
            <a:off x="851125" y="2260832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91"/>
          <p:cNvSpPr txBox="1">
            <a:spLocks noGrp="1"/>
          </p:cNvSpPr>
          <p:nvPr>
            <p:ph type="title"/>
          </p:nvPr>
        </p:nvSpPr>
        <p:spPr>
          <a:xfrm>
            <a:off x="716550" y="281884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Metodologi</a:t>
            </a:r>
            <a:r>
              <a:rPr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pengembangan</a:t>
            </a:r>
            <a:endParaRPr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0" name="Google Shape;720;p91"/>
          <p:cNvSpPr txBox="1">
            <a:spLocks noGrp="1"/>
          </p:cNvSpPr>
          <p:nvPr>
            <p:ph type="title" idx="4294967295"/>
          </p:nvPr>
        </p:nvSpPr>
        <p:spPr>
          <a:xfrm>
            <a:off x="2048720" y="835393"/>
            <a:ext cx="5191246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000" b="1" dirty="0" smtClean="0"/>
              <a:t> Model Ppdioo methodology</a:t>
            </a:r>
            <a:endParaRPr sz="2000" b="1" dirty="0"/>
          </a:p>
        </p:txBody>
      </p:sp>
      <p:sp>
        <p:nvSpPr>
          <p:cNvPr id="721" name="Google Shape;721;p91"/>
          <p:cNvSpPr txBox="1">
            <a:spLocks noGrp="1"/>
          </p:cNvSpPr>
          <p:nvPr>
            <p:ph type="title" idx="4294967295"/>
          </p:nvPr>
        </p:nvSpPr>
        <p:spPr>
          <a:xfrm>
            <a:off x="215640" y="1303722"/>
            <a:ext cx="1777500" cy="4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 b="1" dirty="0" smtClean="0"/>
              <a:t> Prepare</a:t>
            </a:r>
            <a:endParaRPr sz="1800" b="1" dirty="0"/>
          </a:p>
        </p:txBody>
      </p:sp>
      <p:sp>
        <p:nvSpPr>
          <p:cNvPr id="722" name="Google Shape;722;p91"/>
          <p:cNvSpPr txBox="1">
            <a:spLocks noGrp="1"/>
          </p:cNvSpPr>
          <p:nvPr>
            <p:ph type="subTitle" idx="4294967295"/>
          </p:nvPr>
        </p:nvSpPr>
        <p:spPr>
          <a:xfrm>
            <a:off x="181381" y="1622910"/>
            <a:ext cx="2660206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1200" dirty="0" err="1" smtClean="0"/>
              <a:t>Analisis</a:t>
            </a:r>
            <a:r>
              <a:rPr sz="1200" dirty="0" smtClean="0"/>
              <a:t> </a:t>
            </a:r>
            <a:r>
              <a:rPr sz="1200" dirty="0" err="1" smtClean="0"/>
              <a:t>Mitra</a:t>
            </a:r>
            <a:r>
              <a:rPr sz="1200" dirty="0" smtClean="0"/>
              <a:t> </a:t>
            </a:r>
            <a:r>
              <a:rPr sz="1200" dirty="0" err="1" smtClean="0"/>
              <a:t>dan</a:t>
            </a:r>
            <a:r>
              <a:rPr sz="1200" dirty="0" smtClean="0"/>
              <a:t> </a:t>
            </a:r>
            <a:r>
              <a:rPr sz="1200" dirty="0" err="1" smtClean="0"/>
              <a:t>Kebutuhan</a:t>
            </a:r>
            <a:endParaRPr sz="1200" dirty="0"/>
          </a:p>
        </p:txBody>
      </p:sp>
      <p:sp>
        <p:nvSpPr>
          <p:cNvPr id="723" name="Google Shape;723;p91"/>
          <p:cNvSpPr txBox="1">
            <a:spLocks noGrp="1"/>
          </p:cNvSpPr>
          <p:nvPr>
            <p:ph type="title" idx="4294967295"/>
          </p:nvPr>
        </p:nvSpPr>
        <p:spPr>
          <a:xfrm>
            <a:off x="193975" y="2281809"/>
            <a:ext cx="1777500" cy="4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 smtClean="0"/>
              <a:t>implement</a:t>
            </a:r>
            <a:endParaRPr sz="1800" b="1" dirty="0"/>
          </a:p>
        </p:txBody>
      </p:sp>
      <p:sp>
        <p:nvSpPr>
          <p:cNvPr id="724" name="Google Shape;724;p91"/>
          <p:cNvSpPr txBox="1">
            <a:spLocks noGrp="1"/>
          </p:cNvSpPr>
          <p:nvPr>
            <p:ph type="subTitle" idx="4294967295"/>
          </p:nvPr>
        </p:nvSpPr>
        <p:spPr>
          <a:xfrm>
            <a:off x="-8476" y="2667932"/>
            <a:ext cx="2578056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id-ID" sz="1200" dirty="0" smtClean="0"/>
              <a:t>Pemsangan Hardware dan Konfigurasi Mikrotik</a:t>
            </a:r>
            <a:endParaRPr sz="1200" dirty="0"/>
          </a:p>
        </p:txBody>
      </p:sp>
      <p:cxnSp>
        <p:nvCxnSpPr>
          <p:cNvPr id="725" name="Google Shape;725;p91"/>
          <p:cNvCxnSpPr/>
          <p:nvPr/>
        </p:nvCxnSpPr>
        <p:spPr>
          <a:xfrm>
            <a:off x="4248450" y="852609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8" name="Google Shape;728;p91"/>
          <p:cNvSpPr txBox="1">
            <a:spLocks noGrp="1"/>
          </p:cNvSpPr>
          <p:nvPr>
            <p:ph type="title" idx="4294967295"/>
          </p:nvPr>
        </p:nvSpPr>
        <p:spPr>
          <a:xfrm>
            <a:off x="3629849" y="1301343"/>
            <a:ext cx="1777500" cy="4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 smtClean="0"/>
              <a:t>Plan</a:t>
            </a:r>
            <a:endParaRPr sz="1800" b="1" dirty="0"/>
          </a:p>
        </p:txBody>
      </p:sp>
      <p:sp>
        <p:nvSpPr>
          <p:cNvPr id="729" name="Google Shape;729;p91"/>
          <p:cNvSpPr txBox="1">
            <a:spLocks noGrp="1"/>
          </p:cNvSpPr>
          <p:nvPr>
            <p:ph type="subTitle" idx="4294967295"/>
          </p:nvPr>
        </p:nvSpPr>
        <p:spPr>
          <a:xfrm>
            <a:off x="3589332" y="1622823"/>
            <a:ext cx="2279031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sz="1200" dirty="0" err="1" smtClean="0"/>
              <a:t>Survei</a:t>
            </a:r>
            <a:r>
              <a:rPr sz="1200" dirty="0" smtClean="0"/>
              <a:t> </a:t>
            </a:r>
            <a:r>
              <a:rPr sz="1200" dirty="0" err="1" smtClean="0"/>
              <a:t>Lokasi</a:t>
            </a:r>
            <a:endParaRPr sz="1200" dirty="0"/>
          </a:p>
        </p:txBody>
      </p:sp>
      <p:sp>
        <p:nvSpPr>
          <p:cNvPr id="730" name="Google Shape;730;p91"/>
          <p:cNvSpPr txBox="1">
            <a:spLocks noGrp="1"/>
          </p:cNvSpPr>
          <p:nvPr>
            <p:ph type="title" idx="4294967295"/>
          </p:nvPr>
        </p:nvSpPr>
        <p:spPr>
          <a:xfrm>
            <a:off x="3731989" y="2279400"/>
            <a:ext cx="1777500" cy="4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 smtClean="0"/>
              <a:t>operate</a:t>
            </a:r>
            <a:endParaRPr sz="1800" b="1" dirty="0"/>
          </a:p>
        </p:txBody>
      </p:sp>
      <p:sp>
        <p:nvSpPr>
          <p:cNvPr id="731" name="Google Shape;731;p91"/>
          <p:cNvSpPr txBox="1">
            <a:spLocks noGrp="1"/>
          </p:cNvSpPr>
          <p:nvPr>
            <p:ph type="subTitle" idx="4294967295"/>
          </p:nvPr>
        </p:nvSpPr>
        <p:spPr>
          <a:xfrm>
            <a:off x="3644175" y="2668030"/>
            <a:ext cx="2420963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sz="1200" dirty="0" err="1" smtClean="0"/>
              <a:t>Uji</a:t>
            </a:r>
            <a:r>
              <a:rPr sz="1200" dirty="0" smtClean="0"/>
              <a:t> </a:t>
            </a:r>
            <a:r>
              <a:rPr sz="1200" dirty="0" err="1" smtClean="0"/>
              <a:t>Akses</a:t>
            </a:r>
            <a:r>
              <a:rPr sz="1200" dirty="0" smtClean="0"/>
              <a:t> </a:t>
            </a:r>
            <a:r>
              <a:rPr sz="1200" dirty="0" err="1" smtClean="0"/>
              <a:t>Sistem</a:t>
            </a:r>
            <a:endParaRPr sz="1200" dirty="0"/>
          </a:p>
        </p:txBody>
      </p:sp>
      <p:sp>
        <p:nvSpPr>
          <p:cNvPr id="733" name="Google Shape;733;p91"/>
          <p:cNvSpPr txBox="1">
            <a:spLocks noGrp="1"/>
          </p:cNvSpPr>
          <p:nvPr>
            <p:ph type="title" idx="4294967295"/>
          </p:nvPr>
        </p:nvSpPr>
        <p:spPr>
          <a:xfrm>
            <a:off x="6721591" y="1307110"/>
            <a:ext cx="1777500" cy="4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 smtClean="0"/>
              <a:t>Design</a:t>
            </a:r>
            <a:endParaRPr sz="1800" b="1" dirty="0"/>
          </a:p>
        </p:txBody>
      </p:sp>
      <p:sp>
        <p:nvSpPr>
          <p:cNvPr id="734" name="Google Shape;734;p91"/>
          <p:cNvSpPr txBox="1">
            <a:spLocks noGrp="1"/>
          </p:cNvSpPr>
          <p:nvPr>
            <p:ph type="subTitle" idx="4294967295"/>
          </p:nvPr>
        </p:nvSpPr>
        <p:spPr>
          <a:xfrm>
            <a:off x="6779464" y="1630046"/>
            <a:ext cx="2167765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id-ID" sz="1200" dirty="0" smtClean="0"/>
              <a:t> Desain Topologi Hyrid</a:t>
            </a:r>
            <a:endParaRPr sz="1200" dirty="0"/>
          </a:p>
        </p:txBody>
      </p:sp>
      <p:sp>
        <p:nvSpPr>
          <p:cNvPr id="735" name="Google Shape;735;p91"/>
          <p:cNvSpPr txBox="1">
            <a:spLocks noGrp="1"/>
          </p:cNvSpPr>
          <p:nvPr>
            <p:ph type="title" idx="4294967295"/>
          </p:nvPr>
        </p:nvSpPr>
        <p:spPr>
          <a:xfrm>
            <a:off x="6712754" y="2267831"/>
            <a:ext cx="1777500" cy="4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 smtClean="0"/>
              <a:t>optimize</a:t>
            </a:r>
            <a:endParaRPr sz="1800" b="1" dirty="0"/>
          </a:p>
        </p:txBody>
      </p:sp>
      <p:sp>
        <p:nvSpPr>
          <p:cNvPr id="736" name="Google Shape;736;p91"/>
          <p:cNvSpPr txBox="1">
            <a:spLocks noGrp="1"/>
          </p:cNvSpPr>
          <p:nvPr>
            <p:ph type="subTitle" idx="4294967295"/>
          </p:nvPr>
        </p:nvSpPr>
        <p:spPr>
          <a:xfrm>
            <a:off x="6701180" y="2668030"/>
            <a:ext cx="2159232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id-ID" sz="1200" dirty="0" smtClean="0"/>
              <a:t> Pengujian QoS dan Monitoring Kuota</a:t>
            </a:r>
            <a:endParaRPr sz="1200" dirty="0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1805651" y="1522092"/>
            <a:ext cx="2158678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5202819" y="1516305"/>
            <a:ext cx="1869311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1842306" y="2513681"/>
            <a:ext cx="2158678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5163273" y="2507891"/>
            <a:ext cx="1869311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4" name="Google Shape;720;p91"/>
          <p:cNvSpPr txBox="1">
            <a:spLocks/>
          </p:cNvSpPr>
          <p:nvPr/>
        </p:nvSpPr>
        <p:spPr>
          <a:xfrm>
            <a:off x="1975427" y="3603517"/>
            <a:ext cx="5191246" cy="40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 spc="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 spc="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 spc="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 spc="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 spc="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 spc="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 spc="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 spc="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 spc="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pPr algn="ctr"/>
            <a:r>
              <a:rPr lang="id-ID" sz="1600" b="1" dirty="0" smtClean="0"/>
              <a:t> Analisis kebutuhan sistem</a:t>
            </a:r>
          </a:p>
        </p:txBody>
      </p:sp>
      <p:sp>
        <p:nvSpPr>
          <p:cNvPr id="96" name="Google Shape;722;p91"/>
          <p:cNvSpPr txBox="1">
            <a:spLocks/>
          </p:cNvSpPr>
          <p:nvPr/>
        </p:nvSpPr>
        <p:spPr>
          <a:xfrm>
            <a:off x="2264724" y="3982757"/>
            <a:ext cx="488837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 spc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 spc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 spc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 spc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 spc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 spc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 spc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 spc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 spc="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id-ID" sz="1200" dirty="0" smtClean="0"/>
              <a:t>ISP : Modem Telkomsel Orbit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id-ID" sz="1200" dirty="0" smtClean="0"/>
              <a:t>Pembatas Pengguna : Maksimal 5-10 Concurrent Users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93"/>
          <p:cNvSpPr txBox="1">
            <a:spLocks noGrp="1"/>
          </p:cNvSpPr>
          <p:nvPr>
            <p:ph type="title"/>
          </p:nvPr>
        </p:nvSpPr>
        <p:spPr>
          <a:xfrm>
            <a:off x="368300" y="970700"/>
            <a:ext cx="26670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smtClean="0"/>
              <a:t>diagram Topologi hybrid</a:t>
            </a:r>
            <a:endParaRPr dirty="0"/>
          </a:p>
        </p:txBody>
      </p:sp>
      <p:sp>
        <p:nvSpPr>
          <p:cNvPr id="757" name="Google Shape;757;p93"/>
          <p:cNvSpPr txBox="1">
            <a:spLocks noGrp="1"/>
          </p:cNvSpPr>
          <p:nvPr>
            <p:ph type="title" idx="4"/>
          </p:nvPr>
        </p:nvSpPr>
        <p:spPr>
          <a:xfrm>
            <a:off x="5562600" y="1001400"/>
            <a:ext cx="315595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K</a:t>
            </a:r>
            <a:r>
              <a:rPr dirty="0" err="1" smtClean="0"/>
              <a:t>eterangan</a:t>
            </a:r>
            <a:r>
              <a:rPr dirty="0" smtClean="0"/>
              <a:t> </a:t>
            </a:r>
            <a:r>
              <a:rPr dirty="0" err="1" smtClean="0"/>
              <a:t>distribusi</a:t>
            </a:r>
            <a:endParaRPr dirty="0"/>
          </a:p>
        </p:txBody>
      </p:sp>
      <p:sp>
        <p:nvSpPr>
          <p:cNvPr id="758" name="Google Shape;758;p93"/>
          <p:cNvSpPr txBox="1">
            <a:spLocks noGrp="1"/>
          </p:cNvSpPr>
          <p:nvPr>
            <p:ph type="subTitle" idx="5"/>
          </p:nvPr>
        </p:nvSpPr>
        <p:spPr>
          <a:xfrm>
            <a:off x="5962450" y="1546300"/>
            <a:ext cx="3181550" cy="796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AutoNum type="arabicPeriod"/>
            </a:pPr>
            <a:r>
              <a:rPr lang="id-ID" dirty="0" smtClean="0"/>
              <a:t>Pusat server (RT/04):</a:t>
            </a:r>
          </a:p>
          <a:p>
            <a:pPr marL="800100" lvl="1" indent="-342900" algn="l"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id-ID" dirty="0" smtClean="0">
                <a:solidFill>
                  <a:schemeClr val="bg1"/>
                </a:solidFill>
              </a:rPr>
              <a:t>Modem Orbit (ISP</a:t>
            </a:r>
          </a:p>
          <a:p>
            <a:pPr marL="800100" lvl="1" indent="-342900" algn="l"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id-ID" dirty="0" smtClean="0">
                <a:solidFill>
                  <a:schemeClr val="bg1"/>
                </a:solidFill>
              </a:rPr>
              <a:t>Router + Mikrotik</a:t>
            </a:r>
          </a:p>
          <a:p>
            <a:pPr marL="800100" lvl="1" indent="-342900" algn="l"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id-ID" dirty="0" smtClean="0">
                <a:solidFill>
                  <a:schemeClr val="bg1"/>
                </a:solidFill>
              </a:rPr>
              <a:t>Switch dan HTB Side A</a:t>
            </a:r>
            <a:endParaRPr lang="id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Ø"/>
            </a:pPr>
            <a:endParaRPr lang="id-ID" dirty="0"/>
          </a:p>
        </p:txBody>
      </p:sp>
      <p:cxnSp>
        <p:nvCxnSpPr>
          <p:cNvPr id="759" name="Google Shape;759;p93"/>
          <p:cNvCxnSpPr/>
          <p:nvPr/>
        </p:nvCxnSpPr>
        <p:spPr>
          <a:xfrm>
            <a:off x="4570764" y="1616150"/>
            <a:ext cx="0" cy="222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1" name="Google Shape;761;p93"/>
          <p:cNvSpPr txBox="1">
            <a:spLocks noGrp="1"/>
          </p:cNvSpPr>
          <p:nvPr>
            <p:ph type="title" idx="6"/>
          </p:nvPr>
        </p:nvSpPr>
        <p:spPr>
          <a:xfrm>
            <a:off x="2348950" y="168775"/>
            <a:ext cx="51954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ARSITEKTUR</a:t>
            </a:r>
            <a:r>
              <a:rPr lang="en-US" sz="2000" dirty="0"/>
              <a:t> </a:t>
            </a:r>
            <a:r>
              <a:rPr lang="en-US" sz="2000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TOPOLOG</a:t>
            </a:r>
            <a:r>
              <a:rPr lang="id-ID" sz="2000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i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0" y="1532025"/>
            <a:ext cx="4210050" cy="2330450"/>
          </a:xfrm>
          <a:prstGeom prst="rect">
            <a:avLst/>
          </a:prstGeom>
        </p:spPr>
      </p:pic>
      <p:sp>
        <p:nvSpPr>
          <p:cNvPr id="18" name="Google Shape;758;p93"/>
          <p:cNvSpPr txBox="1">
            <a:spLocks noGrp="1"/>
          </p:cNvSpPr>
          <p:nvPr>
            <p:ph type="subTitle" idx="5"/>
          </p:nvPr>
        </p:nvSpPr>
        <p:spPr>
          <a:xfrm>
            <a:off x="5962450" y="2627400"/>
            <a:ext cx="3181550" cy="796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</a:pPr>
            <a:r>
              <a:rPr lang="id-ID" dirty="0" smtClean="0"/>
              <a:t>2.  Titik Client (RT/05):</a:t>
            </a:r>
          </a:p>
          <a:p>
            <a:pPr marL="800100" lvl="1" indent="-342900" algn="l"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id-ID" dirty="0" smtClean="0">
                <a:solidFill>
                  <a:schemeClr val="bg1"/>
                </a:solidFill>
              </a:rPr>
              <a:t> Kabel FO (200 meter)</a:t>
            </a:r>
          </a:p>
          <a:p>
            <a:pPr marL="800100" lvl="1" indent="-342900" algn="l"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id-ID" dirty="0" smtClean="0">
                <a:solidFill>
                  <a:schemeClr val="bg1"/>
                </a:solidFill>
              </a:rPr>
              <a:t>HTB Side B + Router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Ø"/>
            </a:pPr>
            <a:endParaRPr lang="id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Ø"/>
            </a:pPr>
            <a:endParaRPr lang="id-ID" dirty="0"/>
          </a:p>
        </p:txBody>
      </p:sp>
      <p:sp>
        <p:nvSpPr>
          <p:cNvPr id="19" name="Google Shape;758;p93"/>
          <p:cNvSpPr txBox="1">
            <a:spLocks noGrp="1"/>
          </p:cNvSpPr>
          <p:nvPr>
            <p:ph type="subTitle" idx="5"/>
          </p:nvPr>
        </p:nvSpPr>
        <p:spPr>
          <a:xfrm>
            <a:off x="5896826" y="3518000"/>
            <a:ext cx="3181550" cy="796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</a:pPr>
            <a:r>
              <a:rPr lang="id-ID" dirty="0"/>
              <a:t>3</a:t>
            </a:r>
            <a:r>
              <a:rPr lang="id-ID" dirty="0" smtClean="0"/>
              <a:t>.  Titik Client (RT/03):</a:t>
            </a:r>
          </a:p>
          <a:p>
            <a:pPr marL="800100" lvl="1" indent="-342900" algn="l"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id-ID" dirty="0" smtClean="0">
                <a:solidFill>
                  <a:schemeClr val="bg1"/>
                </a:solidFill>
              </a:rPr>
              <a:t> Kabel FO (200 meter)</a:t>
            </a:r>
          </a:p>
          <a:p>
            <a:pPr marL="800100" lvl="1" indent="-342900" algn="l"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id-ID" dirty="0" smtClean="0">
                <a:solidFill>
                  <a:schemeClr val="bg1"/>
                </a:solidFill>
              </a:rPr>
              <a:t>HTB Side B + Router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Ø"/>
            </a:pPr>
            <a:endParaRPr lang="id-ID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Ø"/>
            </a:pPr>
            <a:endParaRPr lang="id-ID" dirty="0"/>
          </a:p>
        </p:txBody>
      </p:sp>
      <p:sp>
        <p:nvSpPr>
          <p:cNvPr id="20" name="Google Shape;758;p93"/>
          <p:cNvSpPr txBox="1">
            <a:spLocks noGrp="1"/>
          </p:cNvSpPr>
          <p:nvPr>
            <p:ph type="subTitle" idx="5"/>
          </p:nvPr>
        </p:nvSpPr>
        <p:spPr>
          <a:xfrm>
            <a:off x="48476" y="4248250"/>
            <a:ext cx="4148874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</a:pPr>
            <a:r>
              <a:rPr lang="id-ID" b="1" dirty="0" smtClean="0"/>
              <a:t>Skema Jaringan: Topologi Hybrid (FO + Wireless LAN)</a:t>
            </a:r>
            <a:endParaRPr lang="id-ID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01"/>
          <p:cNvSpPr txBox="1">
            <a:spLocks noGrp="1"/>
          </p:cNvSpPr>
          <p:nvPr>
            <p:ph type="title" idx="6"/>
          </p:nvPr>
        </p:nvSpPr>
        <p:spPr>
          <a:xfrm>
            <a:off x="463733" y="47399"/>
            <a:ext cx="7883434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smtClean="0"/>
              <a:t> </a:t>
            </a:r>
            <a:r>
              <a:rPr lang="id-ID" sz="2000" dirty="0"/>
              <a:t>Implementasi dan konfigurasi </a:t>
            </a:r>
            <a:endParaRPr dirty="0"/>
          </a:p>
        </p:txBody>
      </p:sp>
      <p:sp>
        <p:nvSpPr>
          <p:cNvPr id="944" name="Google Shape;944;p101"/>
          <p:cNvSpPr txBox="1">
            <a:spLocks noGrp="1"/>
          </p:cNvSpPr>
          <p:nvPr>
            <p:ph type="title"/>
          </p:nvPr>
        </p:nvSpPr>
        <p:spPr>
          <a:xfrm>
            <a:off x="862450" y="1188673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smtClean="0"/>
              <a:t>Firewall </a:t>
            </a:r>
            <a:r>
              <a:rPr dirty="0" err="1" smtClean="0"/>
              <a:t>nat</a:t>
            </a:r>
            <a:endParaRPr dirty="0"/>
          </a:p>
        </p:txBody>
      </p:sp>
      <p:sp>
        <p:nvSpPr>
          <p:cNvPr id="945" name="Google Shape;945;p101"/>
          <p:cNvSpPr txBox="1">
            <a:spLocks noGrp="1"/>
          </p:cNvSpPr>
          <p:nvPr>
            <p:ph type="subTitle" idx="1"/>
          </p:nvPr>
        </p:nvSpPr>
        <p:spPr>
          <a:xfrm>
            <a:off x="202473" y="3226526"/>
            <a:ext cx="2344784" cy="5290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" dirty="0" smtClean="0"/>
              <a:t> </a:t>
            </a:r>
            <a:r>
              <a:rPr lang="en-US" dirty="0"/>
              <a:t>Out-Interface: </a:t>
            </a:r>
            <a:r>
              <a:rPr lang="en-US" dirty="0" smtClean="0"/>
              <a:t>WAN</a:t>
            </a:r>
            <a:endParaRPr lang="id-ID" dirty="0" smtClean="0"/>
          </a:p>
          <a:p>
            <a:pPr marL="0" lvl="0" indent="0" algn="l"/>
            <a:r>
              <a:rPr lang="en-US" dirty="0"/>
              <a:t>Action: Masquerade</a:t>
            </a:r>
            <a:endParaRPr dirty="0"/>
          </a:p>
        </p:txBody>
      </p:sp>
      <p:sp>
        <p:nvSpPr>
          <p:cNvPr id="946" name="Google Shape;946;p101"/>
          <p:cNvSpPr txBox="1">
            <a:spLocks noGrp="1"/>
          </p:cNvSpPr>
          <p:nvPr>
            <p:ph type="title" idx="2"/>
          </p:nvPr>
        </p:nvSpPr>
        <p:spPr>
          <a:xfrm>
            <a:off x="5826034" y="1178186"/>
            <a:ext cx="3396343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smtClean="0"/>
              <a:t>Mikhmon dan limittion</a:t>
            </a:r>
            <a:endParaRPr dirty="0"/>
          </a:p>
        </p:txBody>
      </p:sp>
      <p:sp>
        <p:nvSpPr>
          <p:cNvPr id="947" name="Google Shape;947;p101"/>
          <p:cNvSpPr txBox="1">
            <a:spLocks noGrp="1"/>
          </p:cNvSpPr>
          <p:nvPr>
            <p:ph type="subTitle" idx="3"/>
          </p:nvPr>
        </p:nvSpPr>
        <p:spPr>
          <a:xfrm>
            <a:off x="6093823" y="3308891"/>
            <a:ext cx="2997466" cy="5707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Limit Bandwidth</a:t>
            </a:r>
            <a:r>
              <a:rPr lang="en-US" dirty="0" smtClean="0"/>
              <a:t>:</a:t>
            </a:r>
            <a:endParaRPr lang="id-ID" dirty="0" smtClean="0"/>
          </a:p>
          <a:p>
            <a:pPr marL="0" lvl="0" indent="0"/>
            <a:r>
              <a:rPr lang="en-US" dirty="0"/>
              <a:t>3 Mbps / User</a:t>
            </a:r>
            <a:r>
              <a:rPr lang="en" dirty="0" smtClean="0"/>
              <a:t> </a:t>
            </a:r>
            <a:endParaRPr dirty="0"/>
          </a:p>
        </p:txBody>
      </p:sp>
      <p:sp>
        <p:nvSpPr>
          <p:cNvPr id="948" name="Google Shape;948;p101"/>
          <p:cNvSpPr txBox="1">
            <a:spLocks noGrp="1"/>
          </p:cNvSpPr>
          <p:nvPr>
            <p:ph type="title" idx="4"/>
          </p:nvPr>
        </p:nvSpPr>
        <p:spPr>
          <a:xfrm>
            <a:off x="3464923" y="1200592"/>
            <a:ext cx="2370908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</a:t>
            </a:r>
            <a:r>
              <a:rPr dirty="0" smtClean="0"/>
              <a:t>aptive portal</a:t>
            </a:r>
            <a:endParaRPr dirty="0"/>
          </a:p>
        </p:txBody>
      </p:sp>
      <p:sp>
        <p:nvSpPr>
          <p:cNvPr id="949" name="Google Shape;949;p101"/>
          <p:cNvSpPr txBox="1">
            <a:spLocks noGrp="1"/>
          </p:cNvSpPr>
          <p:nvPr>
            <p:ph type="subTitle" idx="5"/>
          </p:nvPr>
        </p:nvSpPr>
        <p:spPr>
          <a:xfrm>
            <a:off x="3265210" y="3282766"/>
            <a:ext cx="2985367" cy="459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 err="1" smtClean="0"/>
              <a:t>Autentikasi</a:t>
            </a:r>
            <a:r>
              <a:rPr lang="en-US" dirty="0" smtClean="0"/>
              <a:t> </a:t>
            </a:r>
            <a:r>
              <a:rPr lang="en-US" dirty="0"/>
              <a:t>User </a:t>
            </a:r>
            <a:r>
              <a:rPr lang="en-US" dirty="0" smtClean="0"/>
              <a:t>via </a:t>
            </a:r>
            <a:r>
              <a:rPr lang="en-US" dirty="0"/>
              <a:t>Voucher Wi-Fi </a:t>
            </a:r>
            <a:endParaRPr dirty="0"/>
          </a:p>
        </p:txBody>
      </p:sp>
      <p:pic>
        <p:nvPicPr>
          <p:cNvPr id="16" name="Picture 1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73" y="1486886"/>
            <a:ext cx="2782389" cy="1739640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029" y="1486886"/>
            <a:ext cx="2762794" cy="173964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601" y="1486886"/>
            <a:ext cx="2506799" cy="1739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01"/>
          <p:cNvSpPr txBox="1">
            <a:spLocks noGrp="1"/>
          </p:cNvSpPr>
          <p:nvPr>
            <p:ph type="title" idx="6"/>
          </p:nvPr>
        </p:nvSpPr>
        <p:spPr>
          <a:xfrm>
            <a:off x="463733" y="47399"/>
            <a:ext cx="7883434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smtClean="0"/>
              <a:t> </a:t>
            </a:r>
            <a:r>
              <a:rPr lang="id-ID" sz="2000" dirty="0" smtClean="0"/>
              <a:t> pengujian dan hasil sistem</a:t>
            </a:r>
            <a:endParaRPr dirty="0"/>
          </a:p>
        </p:txBody>
      </p:sp>
      <p:sp>
        <p:nvSpPr>
          <p:cNvPr id="944" name="Google Shape;944;p101"/>
          <p:cNvSpPr txBox="1">
            <a:spLocks noGrp="1"/>
          </p:cNvSpPr>
          <p:nvPr>
            <p:ph type="title"/>
          </p:nvPr>
        </p:nvSpPr>
        <p:spPr>
          <a:xfrm>
            <a:off x="104804" y="653096"/>
            <a:ext cx="3187036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dirty="0" smtClean="0"/>
              <a:t>1. Black-box testing</a:t>
            </a:r>
            <a:endParaRPr dirty="0"/>
          </a:p>
        </p:txBody>
      </p:sp>
      <p:sp>
        <p:nvSpPr>
          <p:cNvPr id="945" name="Google Shape;945;p101"/>
          <p:cNvSpPr txBox="1">
            <a:spLocks noGrp="1"/>
          </p:cNvSpPr>
          <p:nvPr>
            <p:ph type="subTitle" idx="1"/>
          </p:nvPr>
        </p:nvSpPr>
        <p:spPr>
          <a:xfrm>
            <a:off x="137157" y="1005841"/>
            <a:ext cx="2886894" cy="5290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Font typeface="Wingdings" panose="05000000000000000000" pitchFamily="2" charset="2"/>
              <a:buChar char="Ø"/>
            </a:pPr>
            <a:r>
              <a:rPr lang="en" dirty="0" smtClean="0"/>
              <a:t> </a:t>
            </a:r>
            <a:r>
              <a:rPr lang="id-ID" dirty="0" smtClean="0"/>
              <a:t>Halaman Captive Portal Terubuka Otomatis</a:t>
            </a:r>
          </a:p>
          <a:p>
            <a:pPr marL="285750" lvl="0" indent="-285750" algn="l">
              <a:buFont typeface="Wingdings" panose="05000000000000000000" pitchFamily="2" charset="2"/>
              <a:buChar char="Ø"/>
            </a:pPr>
            <a:r>
              <a:rPr lang="id-ID" dirty="0" smtClean="0"/>
              <a:t>Autentikasi Kode Voucher Berhasil/Valid</a:t>
            </a:r>
          </a:p>
          <a:p>
            <a:pPr marL="285750" lvl="0" indent="-285750" algn="l">
              <a:buFont typeface="Wingdings" panose="05000000000000000000" pitchFamily="2" charset="2"/>
              <a:buChar char="Ø"/>
            </a:pPr>
            <a:r>
              <a:rPr lang="id-ID" dirty="0" smtClean="0"/>
              <a:t>Alokasi IP Address DHCP Sesuai Subnatting</a:t>
            </a:r>
            <a:endParaRPr dirty="0"/>
          </a:p>
        </p:txBody>
      </p:sp>
      <p:sp>
        <p:nvSpPr>
          <p:cNvPr id="948" name="Google Shape;948;p101"/>
          <p:cNvSpPr txBox="1">
            <a:spLocks noGrp="1"/>
          </p:cNvSpPr>
          <p:nvPr>
            <p:ph type="title" idx="4"/>
          </p:nvPr>
        </p:nvSpPr>
        <p:spPr>
          <a:xfrm>
            <a:off x="3987438" y="691139"/>
            <a:ext cx="3014254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smtClean="0"/>
              <a:t>2. Uji performa (qos)</a:t>
            </a:r>
            <a:endParaRPr dirty="0"/>
          </a:p>
        </p:txBody>
      </p:sp>
      <p:sp>
        <p:nvSpPr>
          <p:cNvPr id="949" name="Google Shape;949;p101"/>
          <p:cNvSpPr txBox="1">
            <a:spLocks noGrp="1"/>
          </p:cNvSpPr>
          <p:nvPr>
            <p:ph type="subTitle" idx="5"/>
          </p:nvPr>
        </p:nvSpPr>
        <p:spPr>
          <a:xfrm>
            <a:off x="3800787" y="944515"/>
            <a:ext cx="2985367" cy="459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Font typeface="Wingdings" panose="05000000000000000000" pitchFamily="2" charset="2"/>
              <a:buChar char="Ø"/>
            </a:pPr>
            <a:r>
              <a:rPr lang="id-ID" dirty="0" smtClean="0"/>
              <a:t> Speedtest : Limit 3 Mbps Berjalan Presisi</a:t>
            </a:r>
          </a:p>
          <a:p>
            <a:pPr marL="285750" lvl="0" indent="-285750" algn="l">
              <a:buFont typeface="Wingdings" panose="05000000000000000000" pitchFamily="2" charset="2"/>
              <a:buChar char="Ø"/>
            </a:pPr>
            <a:r>
              <a:rPr lang="id-ID" dirty="0" smtClean="0"/>
              <a:t>Latensi Rata-Rata : -30 Ms</a:t>
            </a:r>
          </a:p>
          <a:p>
            <a:pPr marL="285750" lvl="0" indent="-285750" algn="l">
              <a:buFont typeface="Wingdings" panose="05000000000000000000" pitchFamily="2" charset="2"/>
              <a:buChar char="Ø"/>
            </a:pPr>
            <a:r>
              <a:rPr lang="id-ID" dirty="0" smtClean="0"/>
              <a:t>Packet Loss : 0%</a:t>
            </a:r>
            <a:r>
              <a:rPr lang="id-ID" dirty="0"/>
              <a:t> </a:t>
            </a:r>
            <a:r>
              <a:rPr lang="id-ID" dirty="0" smtClean="0"/>
              <a:t>(Koneksi Sangat Stabil)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6" y="2424439"/>
            <a:ext cx="3193868" cy="18144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051" y="2129246"/>
            <a:ext cx="2383972" cy="280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4"/>
          <p:cNvSpPr txBox="1">
            <a:spLocks noGrp="1"/>
          </p:cNvSpPr>
          <p:nvPr>
            <p:ph type="title"/>
          </p:nvPr>
        </p:nvSpPr>
        <p:spPr>
          <a:xfrm>
            <a:off x="626250" y="597425"/>
            <a:ext cx="789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 dirty="0" err="1" smtClean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Kesimpulan</a:t>
            </a:r>
            <a:endParaRPr sz="28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7" name="Google Shape;447;p64"/>
          <p:cNvSpPr txBox="1">
            <a:spLocks noGrp="1"/>
          </p:cNvSpPr>
          <p:nvPr>
            <p:ph type="body" idx="1"/>
          </p:nvPr>
        </p:nvSpPr>
        <p:spPr>
          <a:xfrm>
            <a:off x="626249" y="1152475"/>
            <a:ext cx="820424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 err="1">
                <a:latin typeface="Arial Narrow" panose="020B0606020202030204" pitchFamily="34" charset="0"/>
              </a:rPr>
              <a:t>Topologi</a:t>
            </a:r>
            <a:r>
              <a:rPr lang="en-US" sz="1800" b="1" dirty="0">
                <a:latin typeface="Arial Narrow" panose="020B0606020202030204" pitchFamily="34" charset="0"/>
              </a:rPr>
              <a:t> Hybrid </a:t>
            </a:r>
            <a:r>
              <a:rPr lang="en-US" sz="1800" b="1" dirty="0" err="1">
                <a:latin typeface="Arial Narrow" panose="020B0606020202030204" pitchFamily="34" charset="0"/>
              </a:rPr>
              <a:t>Berhasil</a:t>
            </a:r>
            <a:r>
              <a:rPr lang="en-US" sz="1800" b="1" dirty="0">
                <a:latin typeface="Arial Narrow" panose="020B0606020202030204" pitchFamily="34" charset="0"/>
              </a:rPr>
              <a:t> </a:t>
            </a:r>
            <a:r>
              <a:rPr lang="en-US" sz="1800" b="1" dirty="0" err="1">
                <a:latin typeface="Arial Narrow" panose="020B0606020202030204" pitchFamily="34" charset="0"/>
              </a:rPr>
              <a:t>Diterapkan</a:t>
            </a:r>
            <a:r>
              <a:rPr lang="en-US" sz="1800" b="1" dirty="0">
                <a:latin typeface="Arial Narrow" panose="020B0606020202030204" pitchFamily="34" charset="0"/>
              </a:rPr>
              <a:t>: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Kombinasi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kabel</a:t>
            </a:r>
            <a:r>
              <a:rPr lang="en-US" sz="1800" dirty="0">
                <a:latin typeface="Arial Narrow" panose="020B0606020202030204" pitchFamily="34" charset="0"/>
              </a:rPr>
              <a:t> Fiber Optic (200m–300m) </a:t>
            </a:r>
            <a:r>
              <a:rPr lang="en-US" sz="1800" dirty="0" err="1">
                <a:latin typeface="Arial Narrow" panose="020B0606020202030204" pitchFamily="34" charset="0"/>
              </a:rPr>
              <a:t>dan</a:t>
            </a:r>
            <a:r>
              <a:rPr lang="en-US" sz="1800" dirty="0">
                <a:latin typeface="Arial Narrow" panose="020B0606020202030204" pitchFamily="34" charset="0"/>
              </a:rPr>
              <a:t> Wireless AP </a:t>
            </a:r>
            <a:r>
              <a:rPr lang="en-US" sz="1800" dirty="0" err="1">
                <a:latin typeface="Arial Narrow" panose="020B0606020202030204" pitchFamily="34" charset="0"/>
              </a:rPr>
              <a:t>berhasil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menghubungkan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titik</a:t>
            </a:r>
            <a:r>
              <a:rPr lang="en-US" sz="1800" dirty="0">
                <a:latin typeface="Arial Narrow" panose="020B0606020202030204" pitchFamily="34" charset="0"/>
              </a:rPr>
              <a:t> RT/04, RT/06, </a:t>
            </a:r>
            <a:r>
              <a:rPr lang="en-US" sz="1800" dirty="0" err="1">
                <a:latin typeface="Arial Narrow" panose="020B0606020202030204" pitchFamily="34" charset="0"/>
              </a:rPr>
              <a:t>dan</a:t>
            </a:r>
            <a:r>
              <a:rPr lang="en-US" sz="1800" dirty="0">
                <a:latin typeface="Arial Narrow" panose="020B0606020202030204" pitchFamily="34" charset="0"/>
              </a:rPr>
              <a:t> RT/02 </a:t>
            </a:r>
            <a:r>
              <a:rPr lang="en-US" sz="1800" dirty="0" err="1">
                <a:latin typeface="Arial Narrow" panose="020B0606020202030204" pitchFamily="34" charset="0"/>
              </a:rPr>
              <a:t>tanpa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kendala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jarak</a:t>
            </a:r>
            <a:r>
              <a:rPr lang="en-US" sz="1800" dirty="0">
                <a:latin typeface="Arial Narrow" panose="020B0606020202030204" pitchFamily="34" charset="0"/>
              </a:rPr>
              <a:t>.</a:t>
            </a:r>
          </a:p>
          <a:p>
            <a:r>
              <a:rPr lang="en-US" sz="1800" b="1" dirty="0" err="1">
                <a:latin typeface="Arial Narrow" panose="020B0606020202030204" pitchFamily="34" charset="0"/>
              </a:rPr>
              <a:t>Manajemen</a:t>
            </a:r>
            <a:r>
              <a:rPr lang="en-US" sz="1800" b="1" dirty="0">
                <a:latin typeface="Arial Narrow" panose="020B0606020202030204" pitchFamily="34" charset="0"/>
              </a:rPr>
              <a:t> Bandwidth &amp; Voucher Optimal: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Fitur</a:t>
            </a:r>
            <a:r>
              <a:rPr lang="en-US" sz="1800" dirty="0">
                <a:latin typeface="Arial Narrow" panose="020B0606020202030204" pitchFamily="34" charset="0"/>
              </a:rPr>
              <a:t> Hotspot </a:t>
            </a:r>
            <a:r>
              <a:rPr lang="en-US" sz="1800" dirty="0" err="1">
                <a:latin typeface="Arial Narrow" panose="020B0606020202030204" pitchFamily="34" charset="0"/>
              </a:rPr>
              <a:t>MikroTik</a:t>
            </a:r>
            <a:r>
              <a:rPr lang="en-US" sz="1800" dirty="0">
                <a:latin typeface="Arial Narrow" panose="020B0606020202030204" pitchFamily="34" charset="0"/>
              </a:rPr>
              <a:t> &amp; </a:t>
            </a:r>
            <a:r>
              <a:rPr lang="en-US" sz="1800" dirty="0" err="1">
                <a:latin typeface="Arial Narrow" panose="020B0606020202030204" pitchFamily="34" charset="0"/>
              </a:rPr>
              <a:t>Mikhmon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terbukti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membatasi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kecepatan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b="1" dirty="0">
                <a:latin typeface="Arial Narrow" panose="020B0606020202030204" pitchFamily="34" charset="0"/>
              </a:rPr>
              <a:t>3 Mbps per user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dan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membatasi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beban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b="1" dirty="0">
                <a:latin typeface="Arial Narrow" panose="020B0606020202030204" pitchFamily="34" charset="0"/>
              </a:rPr>
              <a:t>5–10 concurrent users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sesuai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alokasi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kuota</a:t>
            </a:r>
            <a:r>
              <a:rPr lang="en-US" sz="1800" dirty="0">
                <a:latin typeface="Arial Narrow" panose="020B0606020202030204" pitchFamily="34" charset="0"/>
              </a:rPr>
              <a:t> Modem Orbit.</a:t>
            </a:r>
          </a:p>
          <a:p>
            <a:r>
              <a:rPr lang="en-US" sz="1800" b="1" dirty="0">
                <a:latin typeface="Arial Narrow" panose="020B0606020202030204" pitchFamily="34" charset="0"/>
              </a:rPr>
              <a:t>Performa Stabil: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Hasil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pengujian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menunjukkan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koneksi</a:t>
            </a:r>
            <a:r>
              <a:rPr lang="en-US" sz="1800" dirty="0">
                <a:latin typeface="Arial Narrow" panose="020B0606020202030204" pitchFamily="34" charset="0"/>
              </a:rPr>
              <a:t> internet </a:t>
            </a:r>
            <a:r>
              <a:rPr lang="en-US" sz="1800" dirty="0" err="1">
                <a:latin typeface="Arial Narrow" panose="020B0606020202030204" pitchFamily="34" charset="0"/>
              </a:rPr>
              <a:t>berjalan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dengan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latensi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 err="1">
                <a:latin typeface="Arial Narrow" panose="020B0606020202030204" pitchFamily="34" charset="0"/>
              </a:rPr>
              <a:t>rendah</a:t>
            </a:r>
            <a:r>
              <a:rPr lang="en-US" sz="1800" dirty="0">
                <a:latin typeface="Arial Narrow" panose="020B0606020202030204" pitchFamily="34" charset="0"/>
              </a:rPr>
              <a:t> ($\</a:t>
            </a:r>
            <a:r>
              <a:rPr lang="en-US" sz="1800" dirty="0" err="1">
                <a:latin typeface="Arial Narrow" panose="020B0606020202030204" pitchFamily="34" charset="0"/>
              </a:rPr>
              <a:t>approx</a:t>
            </a:r>
            <a:r>
              <a:rPr lang="en-US" sz="1800" dirty="0">
                <a:latin typeface="Arial Narrow" panose="020B0606020202030204" pitchFamily="34" charset="0"/>
              </a:rPr>
              <a:t> 30\text{ </a:t>
            </a:r>
            <a:r>
              <a:rPr lang="en-US" sz="1800" dirty="0" err="1">
                <a:latin typeface="Arial Narrow" panose="020B0606020202030204" pitchFamily="34" charset="0"/>
              </a:rPr>
              <a:t>ms</a:t>
            </a:r>
            <a:r>
              <a:rPr lang="en-US" sz="1800" dirty="0">
                <a:latin typeface="Arial Narrow" panose="020B0606020202030204" pitchFamily="34" charset="0"/>
              </a:rPr>
              <a:t>}$) </a:t>
            </a:r>
            <a:r>
              <a:rPr lang="en-US" sz="1800" dirty="0" err="1">
                <a:latin typeface="Arial Narrow" panose="020B0606020202030204" pitchFamily="34" charset="0"/>
              </a:rPr>
              <a:t>dan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i="1" dirty="0">
                <a:latin typeface="Arial Narrow" panose="020B0606020202030204" pitchFamily="34" charset="0"/>
              </a:rPr>
              <a:t>0% Packet Loss</a:t>
            </a:r>
            <a:r>
              <a:rPr lang="en-US" sz="1800" dirty="0" smtClean="0">
                <a:latin typeface="Arial Narrow" panose="020B0606020202030204" pitchFamily="34" charset="0"/>
              </a:rPr>
              <a:t>.</a:t>
            </a:r>
            <a:endParaRPr lang="en-US" sz="1800" dirty="0">
              <a:latin typeface="Arial Narrow" panose="020B0606020202030204" pitchFamily="34" charset="0"/>
            </a:endParaRPr>
          </a:p>
        </p:txBody>
      </p:sp>
      <p:cxnSp>
        <p:nvCxnSpPr>
          <p:cNvPr id="448" name="Google Shape;448;p64"/>
          <p:cNvCxnSpPr/>
          <p:nvPr/>
        </p:nvCxnSpPr>
        <p:spPr>
          <a:xfrm>
            <a:off x="819525" y="1139736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Grayscale Pitch Deck XL by Slidesgo">
  <a:themeElements>
    <a:clrScheme name="Simple Light">
      <a:dk1>
        <a:srgbClr val="000000"/>
      </a:dk1>
      <a:lt1>
        <a:srgbClr val="EEEEEE"/>
      </a:lt1>
      <a:dk2>
        <a:srgbClr val="DBDBDB"/>
      </a:dk2>
      <a:lt2>
        <a:srgbClr val="929292"/>
      </a:lt2>
      <a:accent1>
        <a:srgbClr val="383838"/>
      </a:accent1>
      <a:accent2>
        <a:srgbClr val="383838"/>
      </a:accent2>
      <a:accent3>
        <a:srgbClr val="383838"/>
      </a:accent3>
      <a:accent4>
        <a:srgbClr val="383838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</TotalTime>
  <Words>434</Words>
  <Application>Microsoft Office PowerPoint</Application>
  <PresentationFormat>On-screen Show (16:9)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Montserrat</vt:lpstr>
      <vt:lpstr>Wingdings</vt:lpstr>
      <vt:lpstr>Didact Gothic</vt:lpstr>
      <vt:lpstr>Julius Sans One</vt:lpstr>
      <vt:lpstr>Arial Narrow</vt:lpstr>
      <vt:lpstr>Questrial</vt:lpstr>
      <vt:lpstr>Bahnschrift Condensed</vt:lpstr>
      <vt:lpstr>Minimalist Grayscale Pitch Deck XL by Slidesgo</vt:lpstr>
      <vt:lpstr>Rinexs adittama weleleinam</vt:lpstr>
      <vt:lpstr>akibat</vt:lpstr>
      <vt:lpstr> rumusan masalah</vt:lpstr>
      <vt:lpstr>Metodologi pengembangan</vt:lpstr>
      <vt:lpstr>diagram Topologi hybrid</vt:lpstr>
      <vt:lpstr> Implementasi dan konfigurasi </vt:lpstr>
      <vt:lpstr>  pengujian dan hasil sistem</vt:lpstr>
      <vt:lpstr>Kesimpulan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GRAYSCALE PITCH DECK</dc:title>
  <dc:creator>ACER LITE14</dc:creator>
  <cp:lastModifiedBy>ACER LITE14</cp:lastModifiedBy>
  <cp:revision>58</cp:revision>
  <dcterms:modified xsi:type="dcterms:W3CDTF">2026-09-10T14:09:21Z</dcterms:modified>
</cp:coreProperties>
</file>